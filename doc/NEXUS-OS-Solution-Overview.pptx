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per month</c:v>
                </c:pt>
              </c:strCache>
            </c:strRef>
          </c:tx>
          <c:spPr>
            <a:solidFill>
              <a:srgbClr val="2E6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A1B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Google, accounting,
email, WhatsApp*</c:v>
                  </c:pt>
                  <c:pt idx="1">
                    <c:v>Image generation</c:v>
                  </c:pt>
                  <c:pt idx="2">
                    <c:v>Hosting &amp; database</c:v>
                  </c:pt>
                  <c:pt idx="3">
                    <c:v>Claude / GPT API</c:v>
                  </c:pt>
                  <c:pt idx="4">
                    <c:v>Ad intelligence</c:v>
                  </c:pt>
                  <c:pt idx="5">
                    <c:v>DataForSEO</c:v>
                  </c:pt>
                  <c:pt idx="6">
                    <c:v>Lead data
(Apollo / Clearbit)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20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  <c:pt idx="5">
                  <c:v>50</c:v>
                </c:pt>
                <c:pt idx="6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A1B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E1A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0"/>
        <c:axPos val="b"/>
        <c:majorGridlines>
          <c:spPr>
            <a:ln w="12700" cap="flat">
              <a:solidFill>
                <a:srgbClr val="E4EB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executive overview: opportunity, solution, capability, architecture, business model, roadmap. Everything here traces to the four supplied documents and the Netlify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prototype is materially more ambitious than the business-model document. That gap is the central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wedge. The last line is the positioning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Capability substitution is where the value is and where the delivery risk is. Say that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the product architecture and the sales narrative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defensibility slide. Competitors can copy features; they cannot copy four years of a customer's Company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Simulator is deliberately in Phase 3 — it is the most attractive and most dangerous feature, and needs a deterministic financial model underneath before AI narrates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463040"/>
            <a:ext cx="5669280" cy="5669280"/>
          </a:xfrm>
          <a:prstGeom prst="ellipse">
            <a:avLst/>
          </a:prstGeom>
          <a:solidFill>
            <a:srgbClr val="2E6B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023360" cy="4023360"/>
          </a:xfrm>
          <a:prstGeom prst="ellipse">
            <a:avLst/>
          </a:prstGeom>
          <a:solidFill>
            <a:srgbClr val="35C6F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600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OPERATING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" y="19659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OS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58368" y="31272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executive team. Built around your company.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analysis · Product requirements · Architecture · Roadmap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4297680"/>
            <a:ext cx="2212848" cy="420624"/>
          </a:xfrm>
          <a:prstGeom prst="roundRect">
            <a:avLst>
              <a:gd name="adj" fmla="val 50000"/>
            </a:avLst>
          </a:prstGeom>
          <a:solidFill>
            <a:srgbClr val="16305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29768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&amp; GCC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35808" y="4297680"/>
            <a:ext cx="2212848" cy="420624"/>
          </a:xfrm>
          <a:prstGeom prst="roundRect">
            <a:avLst>
              <a:gd name="adj" fmla="val 50000"/>
            </a:avLst>
          </a:prstGeom>
          <a:solidFill>
            <a:srgbClr val="16305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429768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→ Enterprise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13248" y="4297680"/>
            <a:ext cx="2212848" cy="420624"/>
          </a:xfrm>
          <a:prstGeom prst="roundRect">
            <a:avLst>
              <a:gd name="adj" fmla="val 50000"/>
            </a:avLst>
          </a:prstGeom>
          <a:solidFill>
            <a:srgbClr val="16305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429768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Parul Bhoite  ·  16 August 2026  ·  Version 0.9 (Draft for review)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is built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27664" cy="786384"/>
          </a:xfrm>
          <a:prstGeom prst="roundRect">
            <a:avLst>
              <a:gd name="adj" fmla="val 11628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46504"/>
            <a:ext cx="438912" cy="438912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35608" y="1691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Understanding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73168" y="170078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OS scope, resourcing, tech stack, setup cost of INR 49K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27664" cy="786384"/>
          </a:xfrm>
          <a:prstGeom prst="roundRect">
            <a:avLst>
              <a:gd name="adj" fmla="val 11628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79192"/>
            <a:ext cx="438912" cy="438912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79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35608" y="2624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Spec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26334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revenue model, 12 Phase-1 modules, technical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438144"/>
            <a:ext cx="11027664" cy="786384"/>
          </a:xfrm>
          <a:prstGeom prst="roundRect">
            <a:avLst>
              <a:gd name="adj" fmla="val 11628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11880"/>
            <a:ext cx="438912" cy="438912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35608" y="3557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Library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73168" y="35661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production prompt modules with grounding rules and JSON schemas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370832"/>
            <a:ext cx="11027664" cy="786384"/>
          </a:xfrm>
          <a:prstGeom prst="roundRect">
            <a:avLst>
              <a:gd name="adj" fmla="val 11628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544568"/>
            <a:ext cx="438912" cy="438912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44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35608" y="44897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Running Costs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73168" y="449884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cost breakdown at validation-stage volume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303520"/>
            <a:ext cx="11027664" cy="786384"/>
          </a:xfrm>
          <a:prstGeom prst="roundRect">
            <a:avLst>
              <a:gd name="adj" fmla="val 11628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477256"/>
            <a:ext cx="438912" cy="438912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77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35608" y="5422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Prototype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73168" y="543153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nexusdraftnew.netlify.app — landing, 11-step onboarding, full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has moved well beyond the original written scope — this deck reconciles the two.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businesses must operate like large 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is the strategist, the marketer, the analyst and the closer. Every available option is bad.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20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an executive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08576" y="19202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65776" y="19202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senior salaries before a single result lands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633472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" y="26334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5–6 SaaS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08576" y="26334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65776" y="263347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combined cost, six logins, six silos, none of them talk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346704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3467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an agency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08576" y="33467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65776" y="334670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output, no institutional memory, stops with the retainer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059936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405993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ChatGPT directly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08576" y="40599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65776" y="405993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— it doesn't know your prices, customers or competitors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4773168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47731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08576" y="47731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65776" y="477316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instinct; problems found after they cost money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596128"/>
            <a:ext cx="11027664" cy="621792"/>
          </a:xfrm>
          <a:prstGeom prst="roundRect">
            <a:avLst>
              <a:gd name="adj" fmla="val 14706"/>
            </a:avLst>
          </a:prstGeom>
          <a:solidFill>
            <a:srgbClr val="DCE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559612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existing AI tool answers </a:t>
            </a:r>
            <a:pPr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happened?”</a:t>
            </a:r>
            <a:pPr indent="0" marL="0">
              <a:buNone/>
            </a:pPr>
            <a:r>
              <a:rPr lang="en-US" sz="150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Nobody answers  </a:t>
            </a:r>
            <a:pPr indent="0" marL="0">
              <a:buNone/>
            </a:pPr>
            <a:r>
              <a:rPr lang="en-US" sz="15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should I do about it?”</a:t>
            </a:r>
            <a:pPr indent="0" marL="0">
              <a:buNone/>
            </a:pPr>
            <a:r>
              <a:rPr lang="en-US" sz="150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then does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motives are stacked in this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carry very different levels of risk, and should be named separately rather than sold as one 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493008" cy="2743200"/>
          </a:xfrm>
          <a:prstGeom prst="roundRect">
            <a:avLst>
              <a:gd name="adj" fmla="val 3333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9696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7D4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39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04672" y="25420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consolidation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31821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5–6 SaaS subscriptions with one.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856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rational, easily-priced argument. This is packaging.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9392" y="1920240"/>
            <a:ext cx="3493008" cy="2743200"/>
          </a:xfrm>
          <a:prstGeom prst="roundRect">
            <a:avLst>
              <a:gd name="adj" fmla="val 3333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17136" y="2139696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565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2139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17136" y="25420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substitution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17136" y="31821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owner judgement they cannot afford to hire.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17136" y="37856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strategist, an analyst, a marketer. This is the actual product.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1920240"/>
            <a:ext cx="3493008" cy="2743200"/>
          </a:xfrm>
          <a:prstGeom prst="roundRect">
            <a:avLst>
              <a:gd name="adj" fmla="val 3333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2139696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35C6F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139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25420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fit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0" y="31821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norms, Arabic, OMR, tender-driven procurement.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0" y="37856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Unserved by US/EU tools. A real, defensible moat.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956048"/>
            <a:ext cx="11027664" cy="1207008"/>
          </a:xfrm>
          <a:prstGeom prst="roundRect">
            <a:avLst>
              <a:gd name="adj" fmla="val 7576"/>
            </a:avLst>
          </a:prstGeom>
          <a:solidFill>
            <a:srgbClr val="112A55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" y="51206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worth protecting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824" y="5413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 → Understand → Decide → Execute → Improve loop is the product. Anything that does not close that loop is a feature, not the product.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that runs a continuous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28600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" y="3328416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website,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knowledge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78608" y="29992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16352" y="20574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28600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44368" y="3328416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learns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into one brain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9992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65776" y="20574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15584" y="2286000"/>
            <a:ext cx="548640" cy="548640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18" name="Text 16"/>
          <p:cNvSpPr/>
          <p:nvPr/>
        </p:nvSpPr>
        <p:spPr>
          <a:xfrm>
            <a:off x="581558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75504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93792" y="3328416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identifies risks,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opportunities, decisions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77456" y="29992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15200" y="20574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228600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24928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443216" y="3328416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strategy,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tasks, proposals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29992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564624" y="20574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228600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44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74352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692640" y="3328416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results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adapts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4709160"/>
            <a:ext cx="11027664" cy="1371600"/>
          </a:xfrm>
          <a:prstGeom prst="roundRect">
            <a:avLst>
              <a:gd name="adj" fmla="val 6667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32688" y="4901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collection of separate tools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32688" y="5266944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AI directors read from the same Company Brain — so the Sales Director already knows what the Finance Advisor knows. This is not a bundle of chatbots with disconnected knowledge.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Brain is the moat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during onboarding, it compounds every week. Everything else reads from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21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11-step onboarding answers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Crawled website content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(RAG-indexed)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+ discovered competitors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GA4, Search Console, CRM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figures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&amp; forbidden terms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past decision and result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9202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12664" y="2212848"/>
            <a:ext cx="804672" cy="804672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0" name="Text 8"/>
          <p:cNvSpPr/>
          <p:nvPr/>
        </p:nvSpPr>
        <p:spPr>
          <a:xfrm>
            <a:off x="5312664" y="22128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33088" y="314553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BRAIN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79392" y="3529584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permanent, structured model of how this specific company works — assembled into a context block that is injected into every single AI call, every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79392" y="4956048"/>
            <a:ext cx="2871216" cy="713232"/>
          </a:xfrm>
          <a:prstGeom prst="roundRect">
            <a:avLst>
              <a:gd name="adj" fmla="val 12821"/>
            </a:avLst>
          </a:prstGeom>
          <a:solidFill>
            <a:srgbClr val="112A55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495604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user every fact it believes, its source, and its unconfirmed assumptions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62672" y="192024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36992" y="2121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36992" y="2395728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 &amp; priorities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health score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&amp; content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with real prices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lists and outreach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interpretation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opportunity cards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any question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grows on its own: every document uploaded and every week of history makes the product harder to leave and better than it was.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AI directors, one shared brain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21808" cy="896112"/>
          </a:xfrm>
          <a:prstGeom prst="roundRect">
            <a:avLst>
              <a:gd name="adj" fmla="val 10204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92224"/>
            <a:ext cx="457200" cy="4572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8176" y="1700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of Staff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19933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 · priorities · risks · cross-department recommendations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08192" y="1572768"/>
            <a:ext cx="5321808" cy="896112"/>
          </a:xfrm>
          <a:prstGeom prst="roundRect">
            <a:avLst>
              <a:gd name="adj" fmla="val 10204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45936" y="1792224"/>
            <a:ext cx="457200" cy="4572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1700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Director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19933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campaigns · content calendar · SEO · brand positioning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615184"/>
            <a:ext cx="5321808" cy="896112"/>
          </a:xfrm>
          <a:prstGeom prst="roundRect">
            <a:avLst>
              <a:gd name="adj" fmla="val 10204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34640"/>
            <a:ext cx="457200" cy="4572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08176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08176" y="30358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lead intelligence · forecasting · proposals · follow-ups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08192" y="2615184"/>
            <a:ext cx="5321808" cy="896112"/>
          </a:xfrm>
          <a:prstGeom prst="roundRect">
            <a:avLst>
              <a:gd name="adj" fmla="val 10204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45936" y="2834640"/>
            <a:ext cx="457200" cy="4572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45936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Advisor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30358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margin · cash-flow signals · budget scenarios · pricing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657600"/>
            <a:ext cx="5321808" cy="896112"/>
          </a:xfrm>
          <a:prstGeom prst="roundRect">
            <a:avLst>
              <a:gd name="adj" fmla="val 10204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3877056"/>
            <a:ext cx="457200" cy="4572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08176" y="3785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Director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08176" y="40782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· recruitment · onboarding · training · team capacity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08192" y="3657600"/>
            <a:ext cx="5321808" cy="896112"/>
          </a:xfrm>
          <a:prstGeom prst="roundRect">
            <a:avLst>
              <a:gd name="adj" fmla="val 10204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45936" y="3877056"/>
            <a:ext cx="457200" cy="4572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3785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Director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40782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· workflow analysis · bottlenecks · task management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700016"/>
            <a:ext cx="11027664" cy="896112"/>
          </a:xfrm>
          <a:prstGeom prst="roundRect">
            <a:avLst>
              <a:gd name="adj" fmla="val 10204"/>
            </a:avLst>
          </a:prstGeom>
          <a:solidFill>
            <a:srgbClr val="112A55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4919472"/>
            <a:ext cx="457200" cy="457200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08176" y="4846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Director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08176" y="51389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· market entry · simulation · risk assessment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director answers from the same Company Brain — never a separate chatbot with separate knowledge.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capability pillars, grouped by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596896" cy="2011680"/>
          </a:xfrm>
          <a:prstGeom prst="roundRect">
            <a:avLst>
              <a:gd name="adj" fmla="val 4545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475488" cy="475488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3230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Command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 · Health Score · Opportunity Radar · Decision Assistant · Simulator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627632"/>
            <a:ext cx="2596896" cy="2011680"/>
          </a:xfrm>
          <a:prstGeom prst="roundRect">
            <a:avLst>
              <a:gd name="adj" fmla="val 4545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21024" y="1883664"/>
            <a:ext cx="475488" cy="47548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1024" y="243230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Marketing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21024" y="29260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Director · Campaign Calendar · SEO · Brand · Pricing Intelligence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627632"/>
            <a:ext cx="2596896" cy="2011680"/>
          </a:xfrm>
          <a:prstGeom prst="roundRect">
            <a:avLst>
              <a:gd name="adj" fmla="val 4545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1883664"/>
            <a:ext cx="475488" cy="47548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43230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Revenue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29260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Intelligence · CRM · Proposal Studio · Comms Intelligence · Forecasting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1627632"/>
            <a:ext cx="2596896" cy="2011680"/>
          </a:xfrm>
          <a:prstGeom prst="roundRect">
            <a:avLst>
              <a:gd name="adj" fmla="val 4545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7152" y="1883664"/>
            <a:ext cx="475488" cy="47548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17152" y="243230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17152" y="29260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discovery · Ad tracking · SEO gaps · Alerts · Positioning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840480"/>
            <a:ext cx="2596896" cy="2011680"/>
          </a:xfrm>
          <a:prstGeom prst="roundRect">
            <a:avLst>
              <a:gd name="adj" fmla="val 4545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096512"/>
            <a:ext cx="475488" cy="47548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64515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&amp; Retention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138928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· Churn prediction · Reviews · Retention · Revenue at risk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3840480"/>
            <a:ext cx="2596896" cy="2011680"/>
          </a:xfrm>
          <a:prstGeom prst="roundRect">
            <a:avLst>
              <a:gd name="adj" fmla="val 4545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21024" y="4096512"/>
            <a:ext cx="475488" cy="47548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21024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21024" y="464515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Operations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21024" y="5138928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 · SOP Builder · Workflow automation · Capacity · Memory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3840480"/>
            <a:ext cx="5541264" cy="2011680"/>
          </a:xfrm>
          <a:prstGeom prst="roundRect">
            <a:avLst>
              <a:gd name="adj" fmla="val 4545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19088" y="4096512"/>
            <a:ext cx="475488" cy="475488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19088" y="464515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Decisions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19088" y="513892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· Margin analysis · Simulator · Scenarios · Risk register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27648" y="3840480"/>
            <a:ext cx="5266944" cy="2011680"/>
          </a:xfrm>
          <a:prstGeom prst="roundRect">
            <a:avLst>
              <a:gd name="adj" fmla="val 4545"/>
            </a:avLst>
          </a:prstGeom>
          <a:solidFill>
            <a:srgbClr val="DCE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83680" y="41148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by outcome, not by tool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83680" y="451713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reads like a team, not a toolbox. That framing is what separates NEXUS from a bundle — and it is worth defending in every design decision that follows.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NARRATIVE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moments sell this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27664" cy="1298448"/>
          </a:xfrm>
          <a:prstGeom prst="roundRect">
            <a:avLst>
              <a:gd name="adj" fmla="val 7042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83664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8366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47288" y="19019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ends with a real assessment of their business — pages analysed, services identified, competitors detected, SEO gaps, digital maturity score. Not a demo. Their business.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11027664" cy="1298448"/>
          </a:xfrm>
          <a:prstGeom prst="roundRect">
            <a:avLst>
              <a:gd name="adj" fmla="val 7042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36499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364992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3767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morning brief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47288" y="3383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that changed in the last seven days, and one recommended action that ties two of them together. This is the habit that makes the product daily.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590288"/>
            <a:ext cx="11027664" cy="1298448"/>
          </a:xfrm>
          <a:prstGeom prst="roundRect">
            <a:avLst>
              <a:gd name="adj" fmla="val 7042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84632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5C6F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84632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52486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47288" y="486460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“Increase Google Ads budget 15%. Est. additional monthly revenue OMR 8,400. Risk: low.” Approve, ask why, or dismiss — inside the product.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figures are taken from the interactive prototype and are illustrative, not measured results.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NEXUS wins against point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98848" y="1554480"/>
            <a:ext cx="3401568" cy="475488"/>
          </a:xfrm>
          <a:prstGeom prst="roundRect">
            <a:avLst>
              <a:gd name="adj" fmla="val 19231"/>
            </a:avLst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4498848" y="1554480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· Jasper · Semrush · Canva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065008" y="1554480"/>
            <a:ext cx="3529584" cy="475488"/>
          </a:xfrm>
          <a:prstGeom prst="roundRect">
            <a:avLst>
              <a:gd name="adj" fmla="val 19231"/>
            </a:avLst>
          </a:prstGeom>
          <a:solidFill>
            <a:srgbClr val="0A1B3D"/>
          </a:solidFill>
          <a:ln/>
        </p:spPr>
      </p:sp>
      <p:sp>
        <p:nvSpPr>
          <p:cNvPr id="7" name="Text 5"/>
          <p:cNvSpPr/>
          <p:nvPr/>
        </p:nvSpPr>
        <p:spPr>
          <a:xfrm>
            <a:off x="8065008" y="155448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11027664" cy="566928"/>
          </a:xfrm>
          <a:prstGeom prst="rect">
            <a:avLst/>
          </a:prstGeom>
          <a:solidFill>
            <a:srgbClr val="F3F7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579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knowledge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5152" y="21579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each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5008" y="2194560"/>
            <a:ext cx="3529584" cy="493776"/>
          </a:xfrm>
          <a:prstGeom prst="roundRect">
            <a:avLst>
              <a:gd name="adj" fmla="val 16667"/>
            </a:avLst>
          </a:prstGeom>
          <a:solidFill>
            <a:srgbClr val="DCE7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19456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business, one brain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8163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8163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dashboards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2852928"/>
            <a:ext cx="3529584" cy="493776"/>
          </a:xfrm>
          <a:prstGeom prst="roundRect">
            <a:avLst>
              <a:gd name="adj" fmla="val 16667"/>
            </a:avLst>
          </a:prstGeom>
          <a:solidFill>
            <a:srgbClr val="DCE7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85292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plus executed 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474720"/>
            <a:ext cx="11027664" cy="566928"/>
          </a:xfrm>
          <a:prstGeom prst="rect">
            <a:avLst/>
          </a:prstGeom>
          <a:solidFill>
            <a:srgbClr val="F3F7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5152" y="34747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65008" y="3511296"/>
            <a:ext cx="3529584" cy="493776"/>
          </a:xfrm>
          <a:prstGeom prst="roundRect">
            <a:avLst>
              <a:gd name="adj" fmla="val 16667"/>
            </a:avLst>
          </a:prstGeom>
          <a:solidFill>
            <a:srgbClr val="DCE7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51129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prices, customers, voice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330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fit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5152" y="41330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/ EU norms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69664"/>
            <a:ext cx="3529584" cy="493776"/>
          </a:xfrm>
          <a:prstGeom prst="roundRect">
            <a:avLst>
              <a:gd name="adj" fmla="val 16667"/>
            </a:avLst>
          </a:prstGeom>
          <a:solidFill>
            <a:srgbClr val="DCE7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16966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norms, OMR, Arabic roadmap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791456"/>
            <a:ext cx="11027664" cy="566928"/>
          </a:xfrm>
          <a:prstGeom prst="rect">
            <a:avLst/>
          </a:prstGeom>
          <a:solidFill>
            <a:srgbClr val="F3F7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7914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45152" y="47914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subscriptions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65008" y="4828032"/>
            <a:ext cx="3529584" cy="493776"/>
          </a:xfrm>
          <a:prstGeom prst="roundRect">
            <a:avLst>
              <a:gd name="adj" fmla="val 16667"/>
            </a:avLst>
          </a:prstGeom>
          <a:solidFill>
            <a:srgbClr val="DCE7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82803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subscription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4498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45152" y="54498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across tools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65008" y="5486400"/>
            <a:ext cx="3529584" cy="493776"/>
          </a:xfrm>
          <a:prstGeom prst="roundRect">
            <a:avLst>
              <a:gd name="adj" fmla="val 16667"/>
            </a:avLst>
          </a:prstGeom>
          <a:solidFill>
            <a:srgbClr val="DCE7FF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548640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compounding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copy any single feature. They cannot copy a customer's accumulated Company Brain.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invent a number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tools fail for one reason: people stop believing the numbers. This is engineered against, not promised.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321808" cy="1188720"/>
          </a:xfrm>
          <a:prstGeom prst="roundRect">
            <a:avLst>
              <a:gd name="adj" fmla="val 7692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94560"/>
            <a:ext cx="475488" cy="475488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2066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is real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08176" y="2359152"/>
            <a:ext cx="4315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from a source system or calculated deterministically in code.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08192" y="1883664"/>
            <a:ext cx="5321808" cy="1188720"/>
          </a:xfrm>
          <a:prstGeom prst="roundRect">
            <a:avLst>
              <a:gd name="adj" fmla="val 7692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45936" y="2194560"/>
            <a:ext cx="475488" cy="475488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2066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computed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49440" y="2359152"/>
            <a:ext cx="4315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%, financial exposure and simulations come from code, not the model. The AI narrates the result.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255264"/>
            <a:ext cx="5321808" cy="1188720"/>
          </a:xfrm>
          <a:prstGeom prst="roundRect">
            <a:avLst>
              <a:gd name="adj" fmla="val 7692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566160"/>
            <a:ext cx="475488" cy="475488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08176" y="34381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are cited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08176" y="3730752"/>
            <a:ext cx="4315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in a proposal is retrieved from the customer's own uploaded price list, with document and page.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08192" y="3255264"/>
            <a:ext cx="5321808" cy="1188720"/>
          </a:xfrm>
          <a:prstGeom prst="roundRect">
            <a:avLst>
              <a:gd name="adj" fmla="val 7692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45936" y="3566160"/>
            <a:ext cx="475488" cy="475488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22" name="Text 20"/>
          <p:cNvSpPr/>
          <p:nvPr/>
        </p:nvSpPr>
        <p:spPr>
          <a:xfrm>
            <a:off x="6345936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34381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stay visible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49440" y="3730752"/>
            <a:ext cx="4315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shows an explicit gap and a prompt to connect the source — never a plausible guess.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626864"/>
            <a:ext cx="5321808" cy="1188720"/>
          </a:xfrm>
          <a:prstGeom prst="roundRect">
            <a:avLst>
              <a:gd name="adj" fmla="val 7692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4937760"/>
            <a:ext cx="475488" cy="475488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08176" y="48097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auditable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08176" y="5102352"/>
            <a:ext cx="4315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answers “why are you telling me this?” with the data behind it and a stored calculation trace.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08192" y="4626864"/>
            <a:ext cx="5321808" cy="1188720"/>
          </a:xfrm>
          <a:prstGeom prst="roundRect">
            <a:avLst>
              <a:gd name="adj" fmla="val 7692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45936" y="4937760"/>
            <a:ext cx="475488" cy="475488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32" name="Text 30"/>
          <p:cNvSpPr/>
          <p:nvPr/>
        </p:nvSpPr>
        <p:spPr>
          <a:xfrm>
            <a:off x="6345936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48097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in CI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949440" y="5102352"/>
            <a:ext cx="4315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the 23 prompt modules carry a named “never fabricate” rule, with automated evals that fail the build.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library supplied is already unusually disciplined on this point. The requirement is to enforce it in code rather than in prompts.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27664" cy="896112"/>
          </a:xfrm>
          <a:prstGeom prst="roundRect">
            <a:avLst>
              <a:gd name="adj" fmla="val 10204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46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CEO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62656" y="1773936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35C6F0"/>
          </a:solidFill>
          <a:ln/>
        </p:spPr>
      </p:sp>
      <p:sp>
        <p:nvSpPr>
          <p:cNvPr id="7" name="Text 5"/>
          <p:cNvSpPr/>
          <p:nvPr/>
        </p:nvSpPr>
        <p:spPr>
          <a:xfrm>
            <a:off x="2962656" y="177393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Owner-led company, wears five hats, no time for 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13248" y="1627632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 · Health Score · Decision cards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670048"/>
            <a:ext cx="11027664" cy="896112"/>
          </a:xfrm>
          <a:prstGeom prst="roundRect">
            <a:avLst>
              <a:gd name="adj" fmla="val 10204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/ Sales Manager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1272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campaigns and works the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3248" y="2670048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Planner · Content Studio · CRM · War Room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11027664" cy="896112"/>
          </a:xfrm>
          <a:prstGeom prst="roundRect">
            <a:avLst>
              <a:gd name="adj" fmla="val 10204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3831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/ Ops Manager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41696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margin and process consistency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13248" y="3712464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Advisor · SOP Builder · Simulator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754880"/>
            <a:ext cx="11027664" cy="896112"/>
          </a:xfrm>
          <a:prstGeom prst="roundRect">
            <a:avLst>
              <a:gd name="adj" fmla="val 10204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4873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Admin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52120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integrations, roles and governance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13248" y="475488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Integrations · AI configuration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852160"/>
            <a:ext cx="11027664" cy="530352"/>
          </a:xfrm>
          <a:prstGeom prst="roundRect">
            <a:avLst>
              <a:gd name="adj" fmla="val 17241"/>
            </a:avLst>
          </a:prstGeom>
          <a:solidFill>
            <a:srgbClr val="FDF0F0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58521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fit today:  on-premise deployment  ·  custom SSO/SAML  ·  heavily regulated data environments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is the number-one risk — so the MVP is cut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document commits 12 modules to “Phase 1”. The prototype adds six more on top. That is a three-year platform, not a first release.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493008" cy="4224528"/>
          </a:xfrm>
          <a:prstGeom prst="roundRect">
            <a:avLst>
              <a:gd name="adj" fmla="val 2618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MONTHS 1–4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359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— prove the loop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798064"/>
            <a:ext cx="307238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Company Brain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Audit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Health Score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Sales Pipeline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Planner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Studio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Studio (RAG)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Intelligence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Assistant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tenancy, billing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883664"/>
            <a:ext cx="3493008" cy="4224528"/>
          </a:xfrm>
          <a:prstGeom prst="roundRect">
            <a:avLst>
              <a:gd name="adj" fmla="val 2618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MONTHS 5–8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17136" y="2359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17136" y="2798064"/>
            <a:ext cx="307238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War Room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Intelligence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 &amp; churn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Advisor + accounting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Radar &amp; tenders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Instagram publishing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Policies &amp; SOP Builder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Intelligence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91856" y="1883664"/>
            <a:ext cx="3493008" cy="4224528"/>
          </a:xfrm>
          <a:prstGeom prst="roundRect">
            <a:avLst>
              <a:gd name="adj" fmla="val 2618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MONTHS 9–14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2359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798064"/>
            <a:ext cx="307238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Simulator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Memory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CEO · Board Packs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Detector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generation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criterion for Phase 1: three design-partner companies onboard unaided and open the Morning Brief four weeks running.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the AI never touches source systems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receives a prepared, validated data block assembled by the grounding layer. This is what makes “never invent a number” enforceable.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11027664" cy="585216"/>
          </a:xfrm>
          <a:prstGeom prst="roundRect">
            <a:avLst>
              <a:gd name="adj" fmla="val 15625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88366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84448" y="1883664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  ·  11-step onboarding  ·  Dashboard app  —  Next.js (React) + Tailwind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596896"/>
            <a:ext cx="11027664" cy="585216"/>
          </a:xfrm>
          <a:prstGeom prst="roundRect">
            <a:avLst>
              <a:gd name="adj" fmla="val 15625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59689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/ API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84448" y="2596896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tenancy  ·  RBAC  ·  Billing  ·  Module endpoints  ·  Background jobs  ·  Webhooks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310128"/>
            <a:ext cx="11027664" cy="731520"/>
          </a:xfrm>
          <a:prstGeom prst="roundRect">
            <a:avLst>
              <a:gd name="adj" fmla="val 12500"/>
            </a:avLst>
          </a:prstGeom>
          <a:solidFill>
            <a:srgbClr val="2E6B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3101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LAYER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84448" y="33101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Context assembler  ·  Deterministic calculators  ·  RAG retriever with citations  ·  JSON schema validator  ·  Eval harness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11027664" cy="585216"/>
          </a:xfrm>
          <a:prstGeom prst="roundRect">
            <a:avLst>
              <a:gd name="adj" fmla="val 15625"/>
            </a:avLst>
          </a:prstGeom>
          <a:solidFill>
            <a:srgbClr val="112A55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16966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35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84448" y="4169664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grounded reasoning core   |   GPT — image generation, voice, cheap high-volume calls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882896"/>
            <a:ext cx="11027664" cy="585216"/>
          </a:xfrm>
          <a:prstGeom prst="roundRect">
            <a:avLst>
              <a:gd name="adj" fmla="val 15625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88289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INTEGRATIONS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84448" y="4882896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tables  ·  Website scanner  ·  Google (GA4, GSC, PageSpeed, Maps)  ·  DataForSEO  ·  Meta  ·  Accounting  ·  Lead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596128"/>
            <a:ext cx="11027664" cy="658368"/>
          </a:xfrm>
          <a:prstGeom prst="roundRect">
            <a:avLst>
              <a:gd name="adj" fmla="val 13889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55961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84448" y="559612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row-level tenant isolation  ·  Vector store  ·  Object storage  ·  Cache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layer is the genuinely novel engineering — and the one most likely to be under-built.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request follows the same seven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55064"/>
            <a:ext cx="402336" cy="402336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5727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tenant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58768" y="15727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Company Brain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331720"/>
            <a:ext cx="402336" cy="402336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53312" y="224942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real inputs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58768" y="224942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declares exactly what it needs; gaps recorded explicitly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008376"/>
            <a:ext cx="402336" cy="402336"/>
          </a:xfrm>
          <a:prstGeom prst="ellipse">
            <a:avLst/>
          </a:prstGeom>
          <a:solidFill>
            <a:srgbClr val="35C6F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53312" y="2926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in 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58768" y="2926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deltas, percentages, exposure, confidence — never the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602736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685032"/>
            <a:ext cx="402336" cy="402336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53312" y="36027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prompt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58768" y="360273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block + module prompt + fetched and computed values only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279392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4361688"/>
            <a:ext cx="402336" cy="402336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4279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model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58768" y="427939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0.2–0.4 temperature for anything factual; 0.6–0.8 only for creative copy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4956048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5038344"/>
            <a:ext cx="402336" cy="402336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53312" y="49560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JSON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58768" y="4956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check, retry, then error state — never render unvalidated output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5632704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" y="5715000"/>
            <a:ext cx="402336" cy="402336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715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53312" y="56327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&amp; audit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858768" y="563270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response with input snapshot and calculation trace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routing: Claude for the grounded reasoning core; GPT for what Claude cannot do at all — images and realtime voice.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and packaging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10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8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proving the value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523744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 &amp; audit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 &amp; Health 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pipeline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Planner &amp; Content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Studio (limited)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609344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65392" y="181051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35C6F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810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17136" y="1810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17136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product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17136" y="2523744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Proposal Studio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Intelligence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War Room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Customer Intelligence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609344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1810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8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0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/ multi-division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2523744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Advisor + accounting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Simulator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onboarding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974336"/>
            <a:ext cx="3493008" cy="1170432"/>
          </a:xfrm>
          <a:prstGeom prst="roundRect">
            <a:avLst>
              <a:gd name="adj" fmla="val 7813"/>
            </a:avLst>
          </a:prstGeom>
          <a:solidFill>
            <a:srgbClr val="DCE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" y="508406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04672" y="555955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 in source material — anchors Starter; explicitly unvalidated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4974336"/>
            <a:ext cx="3493008" cy="1170432"/>
          </a:xfrm>
          <a:prstGeom prst="roundRect">
            <a:avLst>
              <a:gd name="adj" fmla="val 7813"/>
            </a:avLst>
          </a:prstGeom>
          <a:solidFill>
            <a:srgbClr val="DCE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17136" y="508406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~$260/mo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17136" y="555955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running cost at validation-stage volume across all services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91856" y="4974336"/>
            <a:ext cx="3493008" cy="1170432"/>
          </a:xfrm>
          <a:prstGeom prst="roundRect">
            <a:avLst>
              <a:gd name="adj" fmla="val 7813"/>
            </a:avLst>
          </a:prstGeom>
          <a:solidFill>
            <a:srgbClr val="DCE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0" y="508406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29600" y="555955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ceiling for AI + data cost as a share of subscription price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AI-Business-OS-Business-Model.pdf and NEXUS-OS-Monthly-Running-Costs.xlsx. Pricing is flagged unvalidated in the source and must be tested with design partners.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monthly running cost goes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Validation-stage volume. Lead data and ad intelligence scale fastest as usage grows — they are the lines to watch.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82880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54112" y="18288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0A1B3D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10144" y="19751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010144" y="26151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end of the estimated monthly range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54112" y="3346704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55280" y="34015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Semrush / Ahrefs API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0" y="3602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$500–1,000+/mo — not justified until much larger. DataForSEO instead.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754112" y="3986784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55280" y="40416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ZoomInfo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0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$1,000+/mo — skipped. Apollo/Clearbit at $100 covers early need.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754112" y="4626864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5280" y="46817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Library API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55280" y="4882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ad intelligence can be $0 plus engineering time.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54112" y="5266944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955280" y="5321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*WhatsApp Business API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0" y="5522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platform fee, plus ~$0.005–0.09 per conversation — usage-based, not free.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NEXUS-OS-Monthly-Running-Costs.xlsx — the “low” column. Early-stage usage, not a one-time development cost or a ceiling.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95728" y="1737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95728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person-months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64608" y="1609344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marketing plan, content and a proposal manually to 3–5 real clients using the AI APIs directly. Near-zero cost. Decides whether the rest is worth building.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43200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2E6B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871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871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95728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person-months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2743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Company Brain, audit, grounding layer, CRM, Growth Planner, Content, Proposal Studio, SEO, Morning Brief, Health Score, Assistant, KPI dashboard, billing.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95728" y="40050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95728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person-months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877056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War Room, Lead Intelligence, Customer Intelligence, Finance Advisor, Opportunity Radar, Meta publishing, HR/SOPs, Communication Intelligence.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010912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138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4315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95728" y="5138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395728" y="5504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 person-months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501091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Simulator, Decision Intelligence, Company Memory, Voice CEO, Board Packs, Crisis Detector, Arabic-first, workflow automation.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6108192"/>
            <a:ext cx="11027664" cy="457200"/>
          </a:xfrm>
          <a:prstGeom prst="roundRect">
            <a:avLst>
              <a:gd name="adj" fmla="val 20000"/>
            </a:avLst>
          </a:prstGeom>
          <a:solidFill>
            <a:srgbClr val="112A55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" y="61081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team:  2 full-stack  ·  1 AI/integration  ·  0.5 design  ·  0.5 QA  ·  0.5 product owner (tapers in later phases) — the PO holds the MVP line against scope pressure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how we hold them down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373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99616" y="159105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as written is a multi-year 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59105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82512" y="1591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the 12 MVP modules; Phase 2 and 3 are dated, not deleted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267712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BF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414016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41401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99616" y="22677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fabricated number reaches a customer's client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26771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2677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contract, RAG citations in proposals, eval suite in CI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944368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090672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99616" y="29443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produces confident nonsense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294436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29443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MVP. Deterministic model first, AI narration second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3621024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BF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3767328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6891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767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99616" y="362102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data thinness at day 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362102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2512" y="36210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works from the website alone; gaps shown explicitly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297680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443984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6891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4439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499616" y="42976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cost scales faster than revenue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5040" y="42976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42976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budgets, model routing, caching of stable generations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4974336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BF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12064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68910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1206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499616" y="49743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app review delays Phase 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35040" y="497433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82512" y="49743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review in Month 4; the free Ad Library API covers ad monitoring meanwhile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6928" y="5650992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F3F7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" y="5797296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79729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499616" y="56509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procurement distorts the SME product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035040" y="565099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82512" y="56509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consultative motion; protect the core roadmap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66928" y="6437376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three are the ones that decide whether this product exists in twelve months.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agree to move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21808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739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language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048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 vs .NET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— richer AI/RAG ecosystem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08192" y="1664208"/>
            <a:ext cx="5321808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45936" y="17739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data provider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5936" y="2048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DataForSEO vs Semrush/Ahrefs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45936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DataForSEO on cost grounds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5321808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2944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provider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32186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between three partners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Founder's registered country + intl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08192" y="2834640"/>
            <a:ext cx="5321808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45936" y="2944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architecture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45936" y="32186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$49 tier vs three tiers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45936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Three tiers; validate with design partners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005072"/>
            <a:ext cx="5321808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support timing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43891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vs Phase 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4645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Reconsider — may beat several Phase 2 modules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08192" y="4005072"/>
            <a:ext cx="5321808" cy="1005840"/>
          </a:xfrm>
          <a:prstGeom prst="roundRect">
            <a:avLst>
              <a:gd name="adj" fmla="val 9091"/>
            </a:avLst>
          </a:prstGeom>
          <a:solidFill>
            <a:srgbClr val="16305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45936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design partners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45936" y="43891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three customers go first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45936" y="4645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From the existing agency network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303520"/>
            <a:ext cx="11027664" cy="969264"/>
          </a:xfrm>
          <a:prstGeom prst="roundRect">
            <a:avLst>
              <a:gd name="adj" fmla="val 9434"/>
            </a:avLst>
          </a:prstGeom>
          <a:solidFill>
            <a:srgbClr val="2E6BFF"/>
          </a:solidFill>
          <a:ln/>
          <a:effectLst>
            <a:outerShdw sx="100000" sy="100000" kx="0" ky="0" algn="bl" rotWithShape="0" blurRad="177800" dist="38100" dir="5400000">
              <a:srgbClr val="0A1B3D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7824" y="543153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action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77824" y="570585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Phase 0 this month — deliver the core value manually to three real clients while the architecture is finalised. It costs almost nothing and it answers the only question that matters.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NEXUS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OS — AI Business Operating System</dc:title>
  <dc:subject>PptxGenJS Presentation</dc:subject>
  <dc:creator>Parul Bhoite</dc:creator>
  <cp:lastModifiedBy>Parul Bhoite</cp:lastModifiedBy>
  <cp:revision>1</cp:revision>
  <dcterms:created xsi:type="dcterms:W3CDTF">2026-08-15T21:54:22Z</dcterms:created>
  <dcterms:modified xsi:type="dcterms:W3CDTF">2026-08-15T21:54:22Z</dcterms:modified>
</cp:coreProperties>
</file>